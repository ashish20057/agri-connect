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1954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AGRI-CONNECT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8C00"/>
                </a:solidFill>
              </a:defRPr>
            </a:pPr>
            <a:r>
              <a:t>Revolutionizing Agricultural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Team Members: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Member 1 Name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Member 2 Name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Member 3 Name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Member 4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10058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8288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48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Introduction to AGRI-CONNECT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A Comprehensive Agricultural Digital Ecosystem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AGRI-CONNECT is revolutionizing the agricultural sector by providing an integrated digital platform that addresses critical farming challenges through technology-driven solutions.</a:t>
            </a:r>
            <a:endParaRPr lang="en-IN" dirty="0"/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Core Vision &amp; Mission:</a:t>
            </a:r>
            <a:endParaRPr lang="en-IN" dirty="0"/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IN" sz="1400" dirty="0"/>
              <a:t>Empowering farmers through cutting-edge technology and data-driven insights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IN" sz="1400" dirty="0"/>
              <a:t>Creating sustainable agricultural practices for long-term farming </a:t>
            </a:r>
            <a:r>
              <a:rPr lang="en-IN" sz="1400" dirty="0" err="1"/>
              <a:t>successBuilding</a:t>
            </a:r>
            <a:r>
              <a:rPr lang="en-IN" sz="1400" dirty="0"/>
              <a:t> a connected, collaborative agricultural community </a:t>
            </a:r>
            <a:r>
              <a:rPr lang="en-IN" sz="1400" dirty="0" err="1"/>
              <a:t>ecosystemReducing</a:t>
            </a:r>
            <a:r>
              <a:rPr lang="en-IN" sz="1400" dirty="0"/>
              <a:t> operational costs while maximizing farm productivity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IN" sz="1400" dirty="0"/>
              <a:t>Technology </a:t>
            </a:r>
            <a:r>
              <a:rPr lang="en-IN" sz="1400" dirty="0" err="1"/>
              <a:t>Integration:Artificial</a:t>
            </a:r>
            <a:r>
              <a:rPr lang="en-IN" sz="1400" dirty="0"/>
              <a:t> Intelligence for disease detection and crop monitoring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IN" sz="1400" dirty="0"/>
              <a:t>Internet of Things (IoT) for real-time farm data analysis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IN" sz="1400" dirty="0"/>
              <a:t>Machine Learning algorithms for predictive </a:t>
            </a:r>
            <a:r>
              <a:rPr lang="en-IN" sz="1400" dirty="0" err="1"/>
              <a:t>analyticsCloud</a:t>
            </a:r>
            <a:r>
              <a:rPr lang="en-IN" sz="1400" dirty="0"/>
              <a:t>-based infrastructure for scalable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82880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solidFill>
            <a:srgbClr val="FFF0F5"/>
          </a:solidFill>
          <a:ln w="25400"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DC143C"/>
                </a:solidFill>
              </a:defRPr>
            </a:pPr>
            <a:r>
              <a:t>🔴 Labor Crisis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</a:defRPr>
            </a:pPr>
            <a:r>
              <a:t>Acute shortage of skilled agricultural workers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Difficulty in hiring seasonal and permanent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rgbClr val="FFFAF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8C00"/>
                </a:solidFill>
              </a:defRPr>
            </a:pPr>
            <a:r>
              <a:t>💰 Equipment Costs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</a:defRPr>
            </a:pPr>
            <a:r>
              <a:t>High machinery purchase and maintenance costs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Equipment utilization remains below 30%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3931920" cy="237744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28B22"/>
                </a:solidFill>
              </a:defRPr>
            </a:pPr>
            <a:r>
              <a:t>🦠 Disease Crisis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</a:defRPr>
            </a:pPr>
            <a:r>
              <a:t>25-40% crop losses due to undetected diseases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Manual disease monitoring is slow and unreliable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840480"/>
            <a:ext cx="3931920" cy="237744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4682B4"/>
                </a:solidFill>
              </a:defRPr>
            </a:pPr>
            <a:r>
              <a:t>📊 No Integration</a:t>
            </a:r>
          </a:p>
          <a:p>
            <a:pPr>
              <a:spcBef>
                <a:spcPts val="800"/>
              </a:spcBef>
              <a:defRPr sz="1600">
                <a:solidFill>
                  <a:srgbClr val="282828"/>
                </a:solidFill>
              </a:defRPr>
            </a:pPr>
            <a:r>
              <a:t>Fragmented agricultural services and no data sharing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Lack of centralized platform for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180892"/>
            <a:ext cx="9144000" cy="10058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8288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dirty="0"/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7261" y="824948"/>
            <a:ext cx="8010939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Project Objectives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Primary Objectives: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 dirty="0"/>
              <a:t>Build unified platform connecting farmers with qualified agricultural workers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Create functional machinery rental marketplace with fair pricing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Develop AI-based plant disease detection with 98%+ accuracy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Establish digital ecosystem for agricultural resource sharing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lang="en-IN" dirty="0"/>
              <a:t>se</a:t>
            </a:r>
            <a:r>
              <a:rPr dirty="0" err="1"/>
              <a:t>condary</a:t>
            </a:r>
            <a:r>
              <a:rPr dirty="0"/>
              <a:t> Objectives: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lang="en-US" sz="1400" dirty="0"/>
              <a:t>Reduce farm operational costs by 30-40% through resource sharing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Improve crop yield and quality through early disease detection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Enable data-driven decision making for farmers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Foster collaborative agricultural community with rating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Provide real-time analytics and actionable farming insights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Support sustainable farming practices across regions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8686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37160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8C00"/>
                </a:solidFill>
              </a:defRPr>
            </a:pPr>
            <a:r>
              <a:t>AGRI-CONNECT Platform - Three Core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743200" cy="2194560"/>
          </a:xfrm>
          <a:prstGeom prst="rect">
            <a:avLst/>
          </a:prstGeom>
          <a:solidFill>
            <a:srgbClr val="E6F5DC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👥 Worker Hiring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Post job listings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Browse workers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Secure payments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Ratings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737360"/>
            <a:ext cx="2743200" cy="2194560"/>
          </a:xfrm>
          <a:prstGeom prst="rect">
            <a:avLst/>
          </a:prstGeom>
          <a:solidFill>
            <a:srgbClr val="FFFAF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⚙️ Machinery Rental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Browse equipment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Flexible periods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Fair pricing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Insurance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737360"/>
            <a:ext cx="2743200" cy="219456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4682B4"/>
                </a:solidFill>
              </a:defRPr>
            </a:pPr>
            <a:r>
              <a:t>🤖 AI Disease Detection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Upload leaf image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Instant analysis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98.5% accuracy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• Treatment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8B22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Frontend: React.js - Responsive &amp; interactive user interface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Backend: Node.js &amp; Express - Scalable server with REST APIs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Database: MongoDB - Flexible NoSQL database for data management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AI/ML: PyTorch - Deep Learning framework for disease detection</a:t>
            </a:r>
          </a:p>
          <a:p>
            <a:pPr>
              <a:spcBef>
                <a:spcPts val="600"/>
              </a:spcBef>
              <a:defRPr sz="1600">
                <a:solidFill>
                  <a:srgbClr val="282828"/>
                </a:solidFill>
              </a:defRPr>
            </a:pPr>
            <a:r>
              <a:t>Deployment: Cloud infrastructure with Docker containerization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7772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9144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7482" y="1257300"/>
            <a:ext cx="1914278" cy="1143000"/>
          </a:xfrm>
          <a:prstGeom prst="rect">
            <a:avLst/>
          </a:prstGeom>
          <a:solidFill>
            <a:srgbClr val="6495ED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Client Layer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73178" y="1211580"/>
            <a:ext cx="1914277" cy="1188720"/>
          </a:xfrm>
          <a:prstGeom prst="rect">
            <a:avLst/>
          </a:prstGeom>
          <a:solidFill>
            <a:srgbClr val="FF8C00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⚙️ App Layer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Node.js/Express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00646"/>
            <a:ext cx="1914277" cy="1131073"/>
          </a:xfrm>
          <a:prstGeom prst="rect">
            <a:avLst/>
          </a:prstGeom>
          <a:solidFill>
            <a:srgbClr val="228B22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 ML/AI Layer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PyTorch CNN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06031" y="1143000"/>
            <a:ext cx="1488882" cy="1188720"/>
          </a:xfrm>
          <a:prstGeom prst="rect">
            <a:avLst/>
          </a:prstGeom>
          <a:solidFill>
            <a:srgbClr val="DC143C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🔐 Security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JWT &amp;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743200"/>
            <a:ext cx="6766560" cy="1188720"/>
          </a:xfrm>
          <a:prstGeom prst="rect">
            <a:avLst/>
          </a:prstGeom>
          <a:solidFill>
            <a:srgbClr val="F5F5DC"/>
          </a:solidFill>
          <a:ln w="381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💾 Database Layer - MongoDB</a:t>
            </a:r>
          </a:p>
          <a:p>
            <a:pPr algn="ctr"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User Data | Job Applications | Machinery Rentals | Disease Detection Results | Ratings &amp;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Integration Components &amp; Features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✓ JWT Authentication &amp; OAuth Integration | ✓ Email Notifications (Nodemailer) | ✓ Disease Detection REST API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✓ Hire/Rent Management System | ✓ File Uploads &amp; Image Processing (Multer) | ✓ Real-time Analytics Dashboard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✓ User Ratings &amp; Review System | ✓ Payment Gateway Integration | ✓ Responsive UI/UX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8288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dirty="0"/>
              <a:t>Key Features -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1967" y="1005840"/>
            <a:ext cx="7863840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Key Features Overview - Part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Worker Hiring &amp; Management Platform: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Post detailed job listings with skill requirements and compensation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Browse verified worker profiles with ratings and work experience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Secure application system with automated notifications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Payment processing with escrow protection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Performance tracking and rating system post-engagement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Machinery Rental Marketplace 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Comprehensive equipment catalog with detailed specifications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Flexible rental periods from daily to seasonal rates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Transparent pricing with no hidden charges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Equipment insurance and damage protection coverage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Easy booking and doorstep delivery arrangements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10058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8288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Key Features -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565" y="1143000"/>
            <a:ext cx="8106355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Key Features Overview - Part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AI-Powered Plant Disease Detection System: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Upload high-quality leaf images for instant analysis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Supports identification of 15 different plant diseases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Provides real-time diagnosis with 98.5% accuracy rate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Suggests treatment methods and preventive measures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Stores disease history for pattern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rPr dirty="0"/>
              <a:t>Advanced Platform User Features: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Secure authentication with JWT tokens and OAuth integration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Comprehensive profile management with verification badges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Real-time email notifications for applications and updates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Community rating and review system for trust building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rPr sz="1400" dirty="0"/>
              <a:t>Advanced search filters and recommendation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59635" y="0"/>
            <a:ext cx="9144000" cy="10972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3716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dirty="0"/>
              <a:t>CNN Architecture for Plant Disease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93192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4682B4"/>
                </a:solidFill>
              </a:defRPr>
            </a:pPr>
            <a:r>
              <a:t>Model Configuration</a:t>
            </a:r>
          </a:p>
          <a:p>
            <a:pPr>
              <a:spcBef>
                <a:spcPts val="600"/>
              </a:spcBef>
              <a:defRPr sz="1500" b="1">
                <a:solidFill>
                  <a:srgbClr val="282828"/>
                </a:solidFill>
              </a:defRPr>
            </a:pPr>
            <a:r>
              <a:t>Input Resolution: 256 × 256 pixels</a:t>
            </a:r>
          </a:p>
          <a:p>
            <a:pPr>
              <a:spcBef>
                <a:spcPts val="600"/>
              </a:spcBef>
              <a:defRPr sz="1500" b="1">
                <a:solidFill>
                  <a:srgbClr val="282828"/>
                </a:solidFill>
              </a:defRPr>
            </a:pPr>
            <a:r>
              <a:t>Color Channels: 3 (RGB)</a:t>
            </a:r>
          </a:p>
          <a:p>
            <a:pPr>
              <a:spcBef>
                <a:spcPts val="600"/>
              </a:spcBef>
              <a:defRPr sz="1500" b="1">
                <a:solidFill>
                  <a:srgbClr val="282828"/>
                </a:solidFill>
              </a:defRPr>
            </a:pPr>
            <a:r>
              <a:t>Output Classes: 15 diseases</a:t>
            </a:r>
          </a:p>
          <a:p>
            <a:pPr>
              <a:spcBef>
                <a:spcPts val="600"/>
              </a:spcBef>
              <a:defRPr sz="1500" b="1">
                <a:solidFill>
                  <a:srgbClr val="282828"/>
                </a:solidFill>
              </a:defRPr>
            </a:pPr>
            <a:r>
              <a:t>Total Parameters: ~15.2M</a:t>
            </a:r>
          </a:p>
          <a:p>
            <a:pPr>
              <a:spcBef>
                <a:spcPts val="600"/>
              </a:spcBef>
              <a:defRPr sz="1500" b="1">
                <a:solidFill>
                  <a:srgbClr val="282828"/>
                </a:solidFill>
              </a:defRPr>
            </a:pPr>
            <a:r>
              <a:t>Model Size: 89.2 MB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2" y="1280160"/>
            <a:ext cx="3931920" cy="256032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Layer Structure</a:t>
            </a:r>
          </a:p>
          <a:p>
            <a:pPr>
              <a:spcBef>
                <a:spcPts val="400"/>
              </a:spcBef>
              <a:defRPr sz="1300">
                <a:solidFill>
                  <a:srgbClr val="282828"/>
                </a:solidFill>
              </a:defRPr>
            </a:pPr>
            <a:r>
              <a:t>• Block 1: Conv2d(3→64) + BatchNorm + ReLU + MaxPool</a:t>
            </a:r>
          </a:p>
          <a:p>
            <a:pPr>
              <a:spcBef>
                <a:spcPts val="400"/>
              </a:spcBef>
              <a:defRPr sz="1300">
                <a:solidFill>
                  <a:srgbClr val="282828"/>
                </a:solidFill>
              </a:defRPr>
            </a:pPr>
            <a:r>
              <a:t>• Block 2: Conv2d(64→128) + BatchNorm + ReLU + MaxPool</a:t>
            </a:r>
          </a:p>
          <a:p>
            <a:pPr>
              <a:spcBef>
                <a:spcPts val="400"/>
              </a:spcBef>
              <a:defRPr sz="1300">
                <a:solidFill>
                  <a:srgbClr val="282828"/>
                </a:solidFill>
              </a:defRPr>
            </a:pPr>
            <a:r>
              <a:t>• Block 3: Conv2d(128→256) + BatchNorm + ReLU + MaxPool</a:t>
            </a:r>
          </a:p>
          <a:p>
            <a:pPr>
              <a:spcBef>
                <a:spcPts val="400"/>
              </a:spcBef>
              <a:defRPr sz="1300">
                <a:solidFill>
                  <a:srgbClr val="282828"/>
                </a:solidFill>
              </a:defRPr>
            </a:pPr>
            <a:r>
              <a:t>• Block 4: Conv2d(256→512) + BatchNorm + ReLU + MaxPool</a:t>
            </a:r>
          </a:p>
          <a:p>
            <a:pPr>
              <a:spcBef>
                <a:spcPts val="400"/>
              </a:spcBef>
              <a:defRPr sz="1300">
                <a:solidFill>
                  <a:srgbClr val="282828"/>
                </a:solidFill>
              </a:defRPr>
            </a:pPr>
            <a:r>
              <a:t>• Block 5: Conv2d(512→512) + BatchNorm + ReLU + MaxPool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8B22"/>
                </a:solidFill>
              </a:defRPr>
            </a:pPr>
            <a:r>
              <a:t>Fully Connected Layers &amp; Regularization</a:t>
            </a:r>
          </a:p>
          <a:p>
            <a:pPr>
              <a:spcBef>
                <a:spcPts val="1000"/>
              </a:spcBef>
              <a:defRPr sz="1600" b="1">
                <a:solidFill>
                  <a:srgbClr val="4682B4"/>
                </a:solidFill>
              </a:defRPr>
            </a:pPr>
            <a:r>
              <a:t>Global Average Pooling → Flatten → FC(512→256) → ReLU → Dropout(0.5) → FC(256→15)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Global Average Pooling: Reduces spatial dimensions while retaining feature information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Fully Connected Layer 1: 512 inputs → 256 neurons with ReLU activation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Dropout (0.5): Randomly deactivates 50% of neurons to prevent overfitting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Output Layer: 256 neurons → 15 classes with softmax for probability distribution</a:t>
            </a:r>
          </a:p>
          <a:p>
            <a:pPr>
              <a:spcBef>
                <a:spcPts val="500"/>
              </a:spcBef>
              <a:defRPr sz="1400">
                <a:solidFill>
                  <a:srgbClr val="DC143C"/>
                </a:solidFill>
              </a:defRPr>
            </a:pPr>
            <a:r>
              <a:t>✓ Batch Normalization: Applied after each convolutional layer for faster convergence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Total Trainable Parameters: 15,235,087 parameters optimized during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91440" rtlCol="0" anchor="ctr"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dirty="0"/>
              <a:t>Training Results &amp;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834640" cy="2743200"/>
          </a:xfrm>
          <a:prstGeom prst="rect">
            <a:avLst/>
          </a:prstGeom>
          <a:solidFill>
            <a:srgbClr val="FFFAF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8C00"/>
                </a:solidFill>
              </a:defRPr>
            </a:pPr>
            <a:r>
              <a:t>📊 Training Metrics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t>Training Loss:</a:t>
            </a:r>
          </a:p>
          <a:p>
            <a:pPr>
              <a:defRPr sz="1600" b="1">
                <a:solidFill>
                  <a:srgbClr val="DC143C"/>
                </a:solidFill>
              </a:defRPr>
            </a:pPr>
            <a:r>
              <a:t>  → 0.0234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t>Validation Loss:</a:t>
            </a:r>
          </a:p>
          <a:p>
            <a:pPr>
              <a:defRPr sz="1600" b="1">
                <a:solidFill>
                  <a:srgbClr val="DC143C"/>
                </a:solidFill>
              </a:defRPr>
            </a:pPr>
            <a:r>
              <a:t>  → 0.0412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t>Training Acc:</a:t>
            </a:r>
          </a:p>
          <a:p>
            <a:pPr>
              <a:defRPr sz="1600" b="1">
                <a:solidFill>
                  <a:srgbClr val="DC143C"/>
                </a:solidFill>
              </a:defRPr>
            </a:pPr>
            <a:r>
              <a:t>  → 98.7%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t>Validation Acc:</a:t>
            </a:r>
          </a:p>
          <a:p>
            <a:pPr>
              <a:defRPr sz="1600" b="1">
                <a:solidFill>
                  <a:srgbClr val="DC143C"/>
                </a:solidFill>
              </a:defRPr>
            </a:pPr>
            <a:r>
              <a:t>  → 98.5%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t>Epochs Trained:</a:t>
            </a:r>
          </a:p>
          <a:p>
            <a:pPr>
              <a:defRPr sz="1600" b="1">
                <a:solidFill>
                  <a:srgbClr val="DC143C"/>
                </a:solidFill>
              </a:defRPr>
            </a:pPr>
            <a:r>
              <a:t>  → 50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t>Batch Size:</a:t>
            </a:r>
          </a:p>
          <a:p>
            <a:pPr>
              <a:defRPr sz="1600" b="1">
                <a:solidFill>
                  <a:srgbClr val="DC143C"/>
                </a:solidFill>
              </a:defRPr>
            </a:pPr>
            <a:r>
              <a:t>  → 32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005840"/>
            <a:ext cx="2834640" cy="274320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22"/>
                </a:solidFill>
              </a:defRPr>
            </a:pPr>
            <a:r>
              <a:rPr dirty="0"/>
              <a:t>🎯 Model Performance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rPr dirty="0"/>
              <a:t>Precision Score: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rPr dirty="0"/>
              <a:t>  → 98.3%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rPr dirty="0"/>
              <a:t>Recall Score: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rPr dirty="0"/>
              <a:t>  → 98.5%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rPr dirty="0"/>
              <a:t>F1-Score: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rPr dirty="0"/>
              <a:t>  → 98.4%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rPr dirty="0"/>
              <a:t>AUC-ROC: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rPr dirty="0"/>
              <a:t>  → 0.9876</a:t>
            </a:r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rPr dirty="0"/>
              <a:t>Inference Time: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rPr dirty="0"/>
              <a:t>  → ~150 </a:t>
            </a:r>
            <a:r>
              <a:rPr dirty="0" err="1"/>
              <a:t>ms</a:t>
            </a:r>
            <a:endParaRPr dirty="0"/>
          </a:p>
          <a:p>
            <a:pPr>
              <a:spcBef>
                <a:spcPts val="600"/>
              </a:spcBef>
              <a:defRPr sz="1400" b="1">
                <a:solidFill>
                  <a:srgbClr val="282828"/>
                </a:solidFill>
              </a:defRPr>
            </a:pPr>
            <a:r>
              <a:rPr dirty="0"/>
              <a:t>GPU Memory: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rPr dirty="0"/>
              <a:t>  → 2.1 GB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2377440" cy="274320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4682B4"/>
                </a:solidFill>
              </a:defRPr>
            </a:pPr>
            <a:r>
              <a:t>⚙️ Training Setup</a:t>
            </a:r>
          </a:p>
          <a:p>
            <a:pPr>
              <a:spcBef>
                <a:spcPts val="800"/>
              </a:spcBef>
              <a:defRPr sz="1400" b="1">
                <a:solidFill>
                  <a:srgbClr val="282828"/>
                </a:solidFill>
              </a:defRPr>
            </a:pPr>
            <a:r>
              <a:t>Optimizer:</a:t>
            </a:r>
          </a:p>
          <a:p>
            <a:pPr>
              <a:defRPr sz="1500" b="1">
                <a:solidFill>
                  <a:srgbClr val="4682B4"/>
                </a:solidFill>
              </a:defRPr>
            </a:pPr>
            <a:r>
              <a:t>  Adam</a:t>
            </a:r>
          </a:p>
          <a:p>
            <a:pPr>
              <a:spcBef>
                <a:spcPts val="800"/>
              </a:spcBef>
              <a:defRPr sz="1400" b="1">
                <a:solidFill>
                  <a:srgbClr val="282828"/>
                </a:solidFill>
              </a:defRPr>
            </a:pPr>
            <a:r>
              <a:t>Learning Rate:</a:t>
            </a:r>
          </a:p>
          <a:p>
            <a:pPr>
              <a:defRPr sz="1500" b="1">
                <a:solidFill>
                  <a:srgbClr val="4682B4"/>
                </a:solidFill>
              </a:defRPr>
            </a:pPr>
            <a:r>
              <a:t>  0.001</a:t>
            </a:r>
          </a:p>
          <a:p>
            <a:pPr>
              <a:spcBef>
                <a:spcPts val="800"/>
              </a:spcBef>
              <a:defRPr sz="1400" b="1">
                <a:solidFill>
                  <a:srgbClr val="282828"/>
                </a:solidFill>
              </a:defRPr>
            </a:pPr>
            <a:r>
              <a:t>Loss Function:</a:t>
            </a:r>
          </a:p>
          <a:p>
            <a:pPr>
              <a:defRPr sz="1500" b="1">
                <a:solidFill>
                  <a:srgbClr val="4682B4"/>
                </a:solidFill>
              </a:defRPr>
            </a:pPr>
            <a:r>
              <a:t>  CrossEntropy</a:t>
            </a:r>
          </a:p>
          <a:p>
            <a:pPr>
              <a:spcBef>
                <a:spcPts val="800"/>
              </a:spcBef>
              <a:defRPr sz="1400" b="1">
                <a:solidFill>
                  <a:srgbClr val="282828"/>
                </a:solidFill>
              </a:defRPr>
            </a:pPr>
            <a:r>
              <a:t>Framework:</a:t>
            </a:r>
          </a:p>
          <a:p>
            <a:pPr>
              <a:defRPr sz="1500" b="1">
                <a:solidFill>
                  <a:srgbClr val="4682B4"/>
                </a:solidFill>
              </a:defRPr>
            </a:pPr>
            <a:r>
              <a:t>  PyTorch</a:t>
            </a:r>
          </a:p>
          <a:p>
            <a:pPr>
              <a:spcBef>
                <a:spcPts val="800"/>
              </a:spcBef>
              <a:defRPr sz="1400" b="1">
                <a:solidFill>
                  <a:srgbClr val="282828"/>
                </a:solidFill>
              </a:defRPr>
            </a:pPr>
            <a:r>
              <a:t>Device:</a:t>
            </a:r>
          </a:p>
          <a:p>
            <a:pPr>
              <a:defRPr sz="1500" b="1">
                <a:solidFill>
                  <a:srgbClr val="4682B4"/>
                </a:solidFill>
              </a:defRPr>
            </a:pPr>
            <a:r>
              <a:t>  GPU (CUDA)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8B22"/>
                </a:solidFill>
              </a:defRPr>
            </a:pPr>
            <a:r>
              <a:t>📈 Dataset Composition &amp; Distribution</a:t>
            </a:r>
          </a:p>
          <a:p>
            <a:pPr>
              <a:spcBef>
                <a:spcPts val="800"/>
              </a:spcBef>
              <a:defRPr sz="1600" b="1">
                <a:solidFill>
                  <a:srgbClr val="FF8C00"/>
                </a:solidFill>
              </a:defRPr>
            </a:pPr>
            <a:r>
              <a:t>Total Samples: 15,000+ high-quality plant leaf images from diverse farming regions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✓ Training Set: 70% (10,500 images) | Validation Set: 15% (2,250 images) | Test Set: 15% (2,250 images)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✓ Disease Categories: 15 distinct plant disease types + Healthy plant classification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✓ Data Augmentation: Random rotation (±20°), horizontal flip, brightness adjustment (±0.2), zoom (0.8-1.2)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✓ Image Quality: Normalized 256×256 resolution with RGB color space standardization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✓ Class Balance: Achieved through weighted sampling to handle imbalanced disease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10058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82880" rtlCol="0"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Model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t>Model Performance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t>Strengths &amp; Capabilities: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Exceptional accuracy (98.5%) on validation set across diverse plant disease dataset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Fast inference time (~150ms) enabling real-time mobile and web applications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Robust to variations in lighting conditions, leaf angles, and environmental factors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Excellent generalization across different plant species and disease variations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High precision (98.3%) minimizes false positives and incorrect diagnoses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2200" b="1">
                <a:solidFill>
                  <a:srgbClr val="228B22"/>
                </a:solidFill>
              </a:defRPr>
            </a:pPr>
            <a:r>
              <a:t>Model Optimization &amp; Deployment Strategies: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ONNX export format for cross-platform compatibility (Windows, Linux, mobile)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Model quantization techniques reducing inference time by 60% with minimal accuracy loss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GraphQL API integration enabling efficient client-server communication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Containerized deployment using Docker for scalability and consistency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900">
                <a:solidFill>
                  <a:srgbClr val="282828"/>
                </a:solidFill>
              </a:defRPr>
            </a:pPr>
            <a:r>
              <a:t>Edge device optimization for deployment on IoT and embedded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7772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37160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Key Achievements of AGRI-CONNECT</a:t>
            </a:r>
          </a:p>
          <a:p>
            <a:pPr>
              <a:spcBef>
                <a:spcPts val="1000"/>
              </a:spcBef>
              <a:defRPr sz="1700">
                <a:solidFill>
                  <a:srgbClr val="282828"/>
                </a:solidFill>
              </a:defRPr>
            </a:pPr>
            <a:r>
              <a:t>AGRI-CONNECT represents a significant breakthrough in agricultural technology, offering an integrated ecosystem solution that addresses critical farming challenges through innovative digital transformation.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2651760" cy="1828800"/>
          </a:xfrm>
          <a:prstGeom prst="rect">
            <a:avLst/>
          </a:prstGeom>
          <a:solidFill>
            <a:srgbClr val="E6F5DC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✓ Connected Ecosystem</a:t>
            </a:r>
          </a:p>
          <a:p>
            <a:pPr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Unified platform connecting farmers, workers &amp; resources seamlessly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2377440"/>
            <a:ext cx="2651760" cy="1828800"/>
          </a:xfrm>
          <a:prstGeom prst="rect">
            <a:avLst/>
          </a:prstGeom>
          <a:solidFill>
            <a:srgbClr val="FFFAF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✓ AI-Powered Accuracy</a:t>
            </a:r>
          </a:p>
          <a:p>
            <a:pPr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98.5% accurate disease detection with real-time analysis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377440"/>
            <a:ext cx="2651760" cy="182880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682B4"/>
                </a:solidFill>
              </a:defRPr>
            </a:pPr>
            <a:r>
              <a:t>✓ Cost Reduction</a:t>
            </a:r>
          </a:p>
          <a:p>
            <a:pPr>
              <a:spcBef>
                <a:spcPts val="800"/>
              </a:spcBef>
              <a:defRPr sz="1400">
                <a:solidFill>
                  <a:srgbClr val="282828"/>
                </a:solidFill>
              </a:defRPr>
            </a:pPr>
            <a:r>
              <a:t>30-40% reduction in farm operational costs through resource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28B22"/>
                </a:solidFill>
              </a:defRPr>
            </a:pPr>
            <a:r>
              <a:t>Expected Impact &amp; Benefits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🌾 Enhanced farm productivity and crop yield through early disease detection and intervention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💰 Significant cost savings via equipment sharing and efficient labor management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👥 Strengthened farming community through transparent rating and collaboration systems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📊 Data-driven decision making with real-time analytics and predictive insights</a:t>
            </a:r>
          </a:p>
          <a:p>
            <a:pPr>
              <a:spcBef>
                <a:spcPts val="600"/>
              </a:spcBef>
              <a:defRPr sz="1500">
                <a:solidFill>
                  <a:srgbClr val="282828"/>
                </a:solidFill>
              </a:defRPr>
            </a:pPr>
            <a:r>
              <a:t>🌱 Promotion of sustainable agricultural practices for environmental protection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9144000" cy="77724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0" tIns="137160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Future Scope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solidFill>
            <a:srgbClr val="FFFAF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⏱️ Phase 1: Short-term (3-6 months)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Mobile app for iOS &amp; Android platforms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Push notifications for real-time alerts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Offline mode for areas without connectivity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Enhanced user interface &amp; UX improvements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Payment gateway integration (Stripe, PayPal)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SMS notifications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0FFF0"/>
          </a:solidFill>
          <a:ln w="2540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📅 Phase 2: Medium-term (6-9 months)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IoT sensor integration for farm monitoring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Real-time weather forecasting &amp; alerts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Soil health analysis and recommendations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Crop yield prediction using ML models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Drone integration for aerial farm mapping</a:t>
            </a:r>
          </a:p>
          <a:p>
            <a:pPr>
              <a:spcBef>
                <a:spcPts val="600"/>
              </a:spcBef>
              <a:defRPr sz="1400">
                <a:solidFill>
                  <a:srgbClr val="282828"/>
                </a:solidFill>
              </a:defRPr>
            </a:pPr>
            <a:r>
              <a:t>→ Multi-language support (regional languages)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8229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8B22"/>
                </a:solidFill>
              </a:defRPr>
            </a:pPr>
            <a:r>
              <a:t>🚀 Phase 3: Long-term Vision (9-12+ months)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Blockchain integration for transparent supply chain tracking and product provenance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Advanced predictive analytics for crop yield optimization and market price forecasting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Agricultural marketplace for direct farmer-to-consumer product sales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AI chatbot for personalized farming advisory (24/7 support in local languages)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Government policy integration for subsidy and loan applications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Export to international markets with quality certification support</a:t>
            </a:r>
          </a:p>
          <a:p>
            <a:pPr>
              <a:spcBef>
                <a:spcPts val="500"/>
              </a:spcBef>
              <a:defRPr sz="1400">
                <a:solidFill>
                  <a:srgbClr val="282828"/>
                </a:solidFill>
              </a:defRPr>
            </a:pPr>
            <a:r>
              <a:t>✓ Expansion to other agricultural sectors (animal husbandry, fisheries, forestry)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1565</Words>
  <Application>Microsoft Office PowerPoint</Application>
  <PresentationFormat>On-screen Show (4:3)</PresentationFormat>
  <Paragraphs>230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singh</cp:lastModifiedBy>
  <cp:revision>2</cp:revision>
  <dcterms:created xsi:type="dcterms:W3CDTF">2013-01-27T09:14:16Z</dcterms:created>
  <dcterms:modified xsi:type="dcterms:W3CDTF">2026-04-27T18:09:40Z</dcterms:modified>
  <cp:category/>
</cp:coreProperties>
</file>